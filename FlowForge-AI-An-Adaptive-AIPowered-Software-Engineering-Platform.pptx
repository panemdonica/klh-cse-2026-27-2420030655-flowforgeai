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Bold"/>
      <p:regular r:id="rId201314"/>
    </p:embeddedFont>
    <p:embeddedFont>
      <p:font typeface="Inter"/>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DADBF1"/>
          </a:solidFill>
          <a:ln/>
        </p:spPr>
      </p:sp>
      <p:pic>
        <p:nvPicPr>
          <p:cNvPr id="3" name="Image 0" descr="preencoded.png">    </p:cNvPr>
          <p:cNvPicPr>
            <a:picLocks noChangeAspect="1"/>
          </p:cNvPicPr>
          <p:nvPr/>
        </p:nvPicPr>
        <p:blipFill>
          <a:blip r:embed="rId1"/>
          <a:stretch>
            <a:fillRect/>
          </a:stretch>
        </p:blipFill>
        <p:spPr>
          <a:xfrm>
            <a:off x="94454" y="1237456"/>
            <a:ext cx="4382978" cy="4383088"/>
          </a:xfrm>
          <a:prstGeom prst="rect">
            <a:avLst/>
          </a:prstGeom>
        </p:spPr>
      </p:pic>
      <p:sp>
        <p:nvSpPr>
          <p:cNvPr id="4" name="Text 1"/>
          <p:cNvSpPr/>
          <p:nvPr/>
        </p:nvSpPr>
        <p:spPr>
          <a:xfrm>
            <a:off x="5233360" y="2098873"/>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spc="-112" kern="0" dirty="0">
                <a:solidFill>
                  <a:srgbClr val="000000"/>
                </a:solidFill>
                <a:latin typeface="Inter Bold" pitchFamily="34" charset="0"/>
                <a:ea typeface="Inter Bold" pitchFamily="34" charset="-122"/>
                <a:cs typeface="Inter Bold" pitchFamily="34" charset="-120"/>
              </a:rPr>
              <a:t>FlowForge AI — An Adaptive AI‑Powered Software Engineering Platform</a:t>
            </a:r>
            <a:endParaRPr lang="en-US" sz="3700" dirty="0"/>
          </a:p>
        </p:txBody>
      </p:sp>
      <p:sp>
        <p:nvSpPr>
          <p:cNvPr id="5" name="Text 2"/>
          <p:cNvSpPr/>
          <p:nvPr/>
        </p:nvSpPr>
        <p:spPr>
          <a:xfrm>
            <a:off x="5233360" y="4154289"/>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     P. Donica Mrinmayi • University ID: 2420030655</a:t>
            </a:r>
            <a:endParaRPr lang="en-US" sz="1450" dirty="0"/>
          </a:p>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 ASE Project – 1 • Academic Year 2026–2027</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94930"/>
            <a:ext cx="6296860"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Introduction</a:t>
            </a:r>
            <a:endParaRPr lang="en-US" sz="2950" dirty="0"/>
          </a:p>
        </p:txBody>
      </p:sp>
      <p:sp>
        <p:nvSpPr>
          <p:cNvPr id="4" name="Text 1"/>
          <p:cNvSpPr/>
          <p:nvPr/>
        </p:nvSpPr>
        <p:spPr>
          <a:xfrm>
            <a:off x="661475" y="3050877"/>
            <a:ext cx="6296860" cy="1512094"/>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 FlowForge AI is a proposed AI‑powered platform designed to support the full Software Development Life Cycle (SDLC). It combines AI assistance with Agile practices to help teams manage requirements, planning, development, testing, deployment, and monitoring. The platform is designed to adapt project artifacts when requirements change.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09142"/>
            <a:ext cx="6296860"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Problem Statement</a:t>
            </a:r>
            <a:endParaRPr lang="en-US" sz="2950" dirty="0"/>
          </a:p>
        </p:txBody>
      </p:sp>
      <p:sp>
        <p:nvSpPr>
          <p:cNvPr id="4" name="Text 1"/>
          <p:cNvSpPr/>
          <p:nvPr/>
        </p:nvSpPr>
        <p:spPr>
          <a:xfrm>
            <a:off x="5233360" y="2465090"/>
            <a:ext cx="6296860" cy="268366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Teams use multiple disconnected tools across the SDLC, creating friction.</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Requirements frequently change during development.</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Change propagation (user stories, tasks, tests, docs) is manual and error prone.</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Repetitive tasks—documentation and test‑case creation—consume engineer time.</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Maintaining consistency across stages is difficult and slows delivery.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41077"/>
            <a:ext cx="6296860"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Proposed Solution</a:t>
            </a:r>
            <a:endParaRPr lang="en-US" sz="2950" dirty="0"/>
          </a:p>
        </p:txBody>
      </p:sp>
      <p:sp>
        <p:nvSpPr>
          <p:cNvPr id="4" name="Text 1"/>
          <p:cNvSpPr/>
          <p:nvPr/>
        </p:nvSpPr>
        <p:spPr>
          <a:xfrm>
            <a:off x="661475" y="1597025"/>
            <a:ext cx="6296860" cy="907256"/>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     FlowForge AI (proposed) provides a unified SDLC workspace that leverages AI     assistance to convert requirements into actionable artifacts and to keep     them synchronized as requirements evolve.   </a:t>
            </a:r>
            <a:endParaRPr lang="en-US" sz="1450" dirty="0"/>
          </a:p>
        </p:txBody>
      </p:sp>
      <p:sp>
        <p:nvSpPr>
          <p:cNvPr id="5" name="Shape 2"/>
          <p:cNvSpPr/>
          <p:nvPr/>
        </p:nvSpPr>
        <p:spPr>
          <a:xfrm>
            <a:off x="661475" y="2716907"/>
            <a:ext cx="3053877" cy="1706662"/>
          </a:xfrm>
          <a:prstGeom prst="roundRect">
            <a:avLst>
              <a:gd name="adj" fmla="val 4652"/>
            </a:avLst>
          </a:prstGeom>
          <a:solidFill>
            <a:srgbClr val="DADBF1"/>
          </a:solidFill>
          <a:ln w="6350">
            <a:solidFill>
              <a:srgbClr val="C0C1D7"/>
            </a:solidFill>
            <a:prstDash val="solid"/>
          </a:ln>
        </p:spPr>
      </p:sp>
      <p:sp>
        <p:nvSpPr>
          <p:cNvPr id="6" name="Text 3"/>
          <p:cNvSpPr/>
          <p:nvPr/>
        </p:nvSpPr>
        <p:spPr>
          <a:xfrm>
            <a:off x="856832" y="2912269"/>
            <a:ext cx="2663163"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272525"/>
                </a:solidFill>
                <a:latin typeface="Inter Bold" pitchFamily="34" charset="0"/>
                <a:ea typeface="Inter Bold" pitchFamily="34" charset="-122"/>
                <a:cs typeface="Inter Bold" pitchFamily="34" charset="-120"/>
              </a:rPr>
              <a:t>Unified Platform</a:t>
            </a:r>
            <a:endParaRPr lang="en-US" sz="1850" dirty="0"/>
          </a:p>
        </p:txBody>
      </p:sp>
      <p:sp>
        <p:nvSpPr>
          <p:cNvPr id="7" name="Text 4"/>
          <p:cNvSpPr/>
          <p:nvPr/>
        </p:nvSpPr>
        <p:spPr>
          <a:xfrm>
            <a:off x="856832" y="3320951"/>
            <a:ext cx="2663163" cy="907256"/>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Single workspace for backlog, sprints, testing, and deployment.</a:t>
            </a:r>
            <a:endParaRPr lang="en-US" sz="1450" dirty="0"/>
          </a:p>
        </p:txBody>
      </p:sp>
      <p:sp>
        <p:nvSpPr>
          <p:cNvPr id="8" name="Shape 5"/>
          <p:cNvSpPr/>
          <p:nvPr/>
        </p:nvSpPr>
        <p:spPr>
          <a:xfrm>
            <a:off x="3904359" y="2716907"/>
            <a:ext cx="3053976" cy="1706662"/>
          </a:xfrm>
          <a:prstGeom prst="roundRect">
            <a:avLst>
              <a:gd name="adj" fmla="val 4652"/>
            </a:avLst>
          </a:prstGeom>
          <a:solidFill>
            <a:srgbClr val="DADBF1"/>
          </a:solidFill>
          <a:ln w="6350">
            <a:solidFill>
              <a:srgbClr val="C0C1D7"/>
            </a:solidFill>
            <a:prstDash val="solid"/>
          </a:ln>
        </p:spPr>
      </p:sp>
      <p:sp>
        <p:nvSpPr>
          <p:cNvPr id="9" name="Text 6"/>
          <p:cNvSpPr/>
          <p:nvPr/>
        </p:nvSpPr>
        <p:spPr>
          <a:xfrm>
            <a:off x="4099715" y="2912269"/>
            <a:ext cx="2663262"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272525"/>
                </a:solidFill>
                <a:latin typeface="Inter Bold" pitchFamily="34" charset="0"/>
                <a:ea typeface="Inter Bold" pitchFamily="34" charset="-122"/>
                <a:cs typeface="Inter Bold" pitchFamily="34" charset="-120"/>
              </a:rPr>
              <a:t>AI Assistance</a:t>
            </a:r>
            <a:endParaRPr lang="en-US" sz="1850" dirty="0"/>
          </a:p>
        </p:txBody>
      </p:sp>
      <p:sp>
        <p:nvSpPr>
          <p:cNvPr id="10" name="Text 7"/>
          <p:cNvSpPr/>
          <p:nvPr/>
        </p:nvSpPr>
        <p:spPr>
          <a:xfrm>
            <a:off x="4099715" y="3320951"/>
            <a:ext cx="2663262" cy="907256"/>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Planned AI workflows for requirement analysis and artifact generation.</a:t>
            </a:r>
            <a:endParaRPr lang="en-US" sz="1450" dirty="0"/>
          </a:p>
        </p:txBody>
      </p:sp>
      <p:sp>
        <p:nvSpPr>
          <p:cNvPr id="11" name="Shape 8"/>
          <p:cNvSpPr/>
          <p:nvPr/>
        </p:nvSpPr>
        <p:spPr>
          <a:xfrm>
            <a:off x="661475" y="4612580"/>
            <a:ext cx="6296860" cy="1404243"/>
          </a:xfrm>
          <a:prstGeom prst="roundRect">
            <a:avLst>
              <a:gd name="adj" fmla="val 5653"/>
            </a:avLst>
          </a:prstGeom>
          <a:solidFill>
            <a:srgbClr val="DADBF1"/>
          </a:solidFill>
          <a:ln w="6350">
            <a:solidFill>
              <a:srgbClr val="C0C1D7"/>
            </a:solidFill>
            <a:prstDash val="solid"/>
          </a:ln>
        </p:spPr>
      </p:sp>
      <p:sp>
        <p:nvSpPr>
          <p:cNvPr id="12" name="Text 9"/>
          <p:cNvSpPr/>
          <p:nvPr/>
        </p:nvSpPr>
        <p:spPr>
          <a:xfrm>
            <a:off x="856832" y="4807942"/>
            <a:ext cx="5906146"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272525"/>
                </a:solidFill>
                <a:latin typeface="Inter Bold" pitchFamily="34" charset="0"/>
                <a:ea typeface="Inter Bold" pitchFamily="34" charset="-122"/>
                <a:cs typeface="Inter Bold" pitchFamily="34" charset="-120"/>
              </a:rPr>
              <a:t>Engineering Tooling</a:t>
            </a:r>
            <a:endParaRPr lang="en-US" sz="1850" dirty="0"/>
          </a:p>
        </p:txBody>
      </p:sp>
      <p:sp>
        <p:nvSpPr>
          <p:cNvPr id="13" name="Text 10"/>
          <p:cNvSpPr/>
          <p:nvPr/>
        </p:nvSpPr>
        <p:spPr>
          <a:xfrm>
            <a:off x="856832" y="5216624"/>
            <a:ext cx="5906146" cy="604838"/>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Integration with CI/CD, security scanning, monitoring, and cloud deploy.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94272"/>
            <a:ext cx="6296860"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Project Objectives</a:t>
            </a:r>
            <a:endParaRPr lang="en-US" sz="2950" dirty="0"/>
          </a:p>
        </p:txBody>
      </p:sp>
      <p:sp>
        <p:nvSpPr>
          <p:cNvPr id="4" name="Text 1"/>
          <p:cNvSpPr/>
          <p:nvPr/>
        </p:nvSpPr>
        <p:spPr>
          <a:xfrm>
            <a:off x="5233360" y="2550220"/>
            <a:ext cx="6296860" cy="251340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Develop an integrated platform for SDLC management (proposed).</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Automate repetitive SDLC activities using AI (planned).</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Support Agile project planning and sprint management.</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Assist in generating user stories, test cases, and documentation.</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Support continuous integration and deployment pipelines.</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Integrate security scanning and application monitoring.</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Enable adaptation of artifacts when requirements evolve.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41872"/>
            <a:ext cx="10868745"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Key Features</a:t>
            </a:r>
            <a:endParaRPr lang="en-US" sz="2950" dirty="0"/>
          </a:p>
        </p:txBody>
      </p:sp>
      <p:sp>
        <p:nvSpPr>
          <p:cNvPr id="3" name="Text 1"/>
          <p:cNvSpPr/>
          <p:nvPr/>
        </p:nvSpPr>
        <p:spPr>
          <a:xfrm>
            <a:off x="661475" y="2586831"/>
            <a:ext cx="3315014"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Project Management</a:t>
            </a:r>
            <a:endParaRPr lang="en-US" sz="1850" dirty="0"/>
          </a:p>
        </p:txBody>
      </p:sp>
      <p:sp>
        <p:nvSpPr>
          <p:cNvPr id="4" name="Text 2"/>
          <p:cNvSpPr/>
          <p:nvPr/>
        </p:nvSpPr>
        <p:spPr>
          <a:xfrm>
            <a:off x="661475" y="3071118"/>
            <a:ext cx="331501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Project &amp; team management</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Product backlog</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Sprint planning</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Kanban board</a:t>
            </a:r>
            <a:endParaRPr lang="en-US" sz="1450" dirty="0"/>
          </a:p>
        </p:txBody>
      </p:sp>
      <p:sp>
        <p:nvSpPr>
          <p:cNvPr id="5" name="Text 3"/>
          <p:cNvSpPr/>
          <p:nvPr/>
        </p:nvSpPr>
        <p:spPr>
          <a:xfrm>
            <a:off x="4443996" y="2586831"/>
            <a:ext cx="3315014"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AI Assistance</a:t>
            </a:r>
            <a:endParaRPr lang="en-US" sz="1850" dirty="0"/>
          </a:p>
        </p:txBody>
      </p:sp>
      <p:sp>
        <p:nvSpPr>
          <p:cNvPr id="6" name="Text 4"/>
          <p:cNvSpPr/>
          <p:nvPr/>
        </p:nvSpPr>
        <p:spPr>
          <a:xfrm>
            <a:off x="4443996" y="3071118"/>
            <a:ext cx="3315014" cy="2078831"/>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Requirement analysis</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User story &amp; acceptance criteria generation</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Test‑case generation</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Documentation generation</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Requirement impact analysis</a:t>
            </a:r>
            <a:endParaRPr lang="en-US" sz="1450" dirty="0"/>
          </a:p>
        </p:txBody>
      </p:sp>
      <p:sp>
        <p:nvSpPr>
          <p:cNvPr id="7" name="Text 5"/>
          <p:cNvSpPr/>
          <p:nvPr/>
        </p:nvSpPr>
        <p:spPr>
          <a:xfrm>
            <a:off x="8226517" y="2586831"/>
            <a:ext cx="3315014"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000000"/>
                </a:solidFill>
                <a:latin typeface="Inter Bold" pitchFamily="34" charset="0"/>
                <a:ea typeface="Inter Bold" pitchFamily="34" charset="-122"/>
                <a:cs typeface="Inter Bold" pitchFamily="34" charset="-120"/>
              </a:rPr>
              <a:t>Engineering Automation</a:t>
            </a:r>
            <a:endParaRPr lang="en-US" sz="1850" dirty="0"/>
          </a:p>
        </p:txBody>
      </p:sp>
      <p:sp>
        <p:nvSpPr>
          <p:cNvPr id="8" name="Text 6"/>
          <p:cNvSpPr/>
          <p:nvPr/>
        </p:nvSpPr>
        <p:spPr>
          <a:xfrm>
            <a:off x="8226517" y="3071118"/>
            <a:ext cx="331501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CI/CD</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Security scanning</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Application monitoring</a:t>
            </a:r>
            <a:endParaRPr lang="en-US" sz="1450" dirty="0"/>
          </a:p>
          <a:p>
            <a:pPr algn="l" marL="294640" indent="-294640">
              <a:lnSpc>
                <a:spcPct val="133000"/>
              </a:lnSpc>
              <a:buSzPct val="100000"/>
              <a:buChar char="•"/>
            </a:pPr>
            <a:r>
              <a:rPr lang="en-US" sz="1450" spc="-30" kern="0" dirty="0">
                <a:solidFill>
                  <a:srgbClr val="272525"/>
                </a:solidFill>
                <a:latin typeface="Inter" pitchFamily="34" charset="0"/>
                <a:ea typeface="Inter" pitchFamily="34" charset="-122"/>
                <a:cs typeface="Inter" pitchFamily="34" charset="-120"/>
              </a:rPr>
              <a:t>Cloud deployment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37457"/>
            <a:ext cx="6296860"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AI‑Powered Workflow (Pipeline)</a:t>
            </a:r>
            <a:endParaRPr lang="en-US" sz="2950" dirty="0"/>
          </a:p>
        </p:txBody>
      </p:sp>
      <p:sp>
        <p:nvSpPr>
          <p:cNvPr id="4" name="Text 1"/>
          <p:cNvSpPr/>
          <p:nvPr/>
        </p:nvSpPr>
        <p:spPr>
          <a:xfrm>
            <a:off x="661475" y="2793405"/>
            <a:ext cx="6296860" cy="2027138"/>
          </a:xfrm>
          <a:prstGeom prst="rect">
            <a:avLst/>
          </a:prstGeom>
          <a:noFill/>
          <a:ln/>
        </p:spPr>
        <p:txBody>
          <a:bodyPr wrap="square" lIns="0" tIns="0" rIns="0" bIns="0" rtlCol="0" anchor="t">
            <a:normAutofit/>
          </a:bodyPr>
          <a:lstStyle/>
          <a:p>
            <a:pPr algn="l" indent="0" marL="0">
              <a:lnSpc>
                <a:spcPct val="133000"/>
              </a:lnSpc>
              <a:spcAft>
                <a:spcPts val="1650"/>
              </a:spcAft>
              <a:buNone/>
            </a:pPr>
            <a:r>
              <a:rPr lang="en-US" sz="1450" spc="-30" kern="0" dirty="0">
                <a:solidFill>
                  <a:srgbClr val="272525"/>
                </a:solidFill>
                <a:latin typeface="Inter" pitchFamily="34" charset="0"/>
                <a:ea typeface="Inter" pitchFamily="34" charset="-122"/>
                <a:cs typeface="Inter" pitchFamily="34" charset="-120"/>
              </a:rPr>
              <a:t>     Project Requirements ↓ AI Analysis ↓ Generated Artifacts:     User Stories • Acceptance Criteria • Test Cases • Technical Documentation • Requirement Impact Analysis   </a:t>
            </a:r>
            <a:endParaRPr lang="en-US" sz="1450" dirty="0"/>
          </a:p>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 The AI components are proposed to reduce repetitive authoring and assist developers by suggesting structured artifacts and identifying likely impact areas when requirements change.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19807"/>
            <a:ext cx="10868745" cy="177205"/>
          </a:xfrm>
          <a:prstGeom prst="rect">
            <a:avLst/>
          </a:prstGeom>
          <a:noFill/>
          <a:ln/>
        </p:spPr>
        <p:txBody>
          <a:bodyPr wrap="none" lIns="0" tIns="0" rIns="0" bIns="0" rtlCol="0" anchor="t"/>
          <a:lstStyle/>
          <a:p>
            <a:pPr algn="l" indent="0" marL="0">
              <a:lnSpc>
                <a:spcPct val="104000"/>
              </a:lnSpc>
              <a:buNone/>
            </a:pPr>
            <a:r>
              <a:rPr lang="en-US" sz="1100" b="1" spc="-33" kern="0" dirty="0">
                <a:solidFill>
                  <a:srgbClr val="000000"/>
                </a:solidFill>
                <a:latin typeface="Inter Bold" pitchFamily="34" charset="0"/>
                <a:ea typeface="Inter Bold" pitchFamily="34" charset="-122"/>
                <a:cs typeface="Inter Bold" pitchFamily="34" charset="-120"/>
              </a:rPr>
              <a:t>Proposed System Architecture</a:t>
            </a:r>
            <a:endParaRPr lang="en-US" sz="1100" dirty="0"/>
          </a:p>
        </p:txBody>
      </p:sp>
      <p:pic>
        <p:nvPicPr>
          <p:cNvPr id="3" name="Image 0" descr="preencoded.png">    </p:cNvPr>
          <p:cNvPicPr>
            <a:picLocks noChangeAspect="1"/>
          </p:cNvPicPr>
          <p:nvPr/>
        </p:nvPicPr>
        <p:blipFill>
          <a:blip r:embed="rId1"/>
          <a:stretch>
            <a:fillRect/>
          </a:stretch>
        </p:blipFill>
        <p:spPr>
          <a:xfrm>
            <a:off x="2376329" y="791468"/>
            <a:ext cx="7438938" cy="5905302"/>
          </a:xfrm>
          <a:prstGeom prst="rect">
            <a:avLst/>
          </a:prstGeom>
        </p:spPr>
      </p:pic>
      <p:sp>
        <p:nvSpPr>
          <p:cNvPr id="4" name="Text 1"/>
          <p:cNvSpPr/>
          <p:nvPr/>
        </p:nvSpPr>
        <p:spPr>
          <a:xfrm>
            <a:off x="5417586" y="3106254"/>
            <a:ext cx="1336832" cy="1222743"/>
          </a:xfrm>
          <a:prstGeom prst="rect">
            <a:avLst/>
          </a:prstGeom>
          <a:noFill/>
          <a:ln/>
        </p:spPr>
        <p:txBody>
          <a:bodyPr wrap="square" lIns="0" tIns="0" rIns="0" bIns="0" rtlCol="0" anchor="t">
            <a:normAutofit/>
          </a:bodyPr>
          <a:lstStyle/>
          <a:p>
            <a:pPr algn="ctr" indent="0" marL="0">
              <a:lnSpc>
                <a:spcPct val="104000"/>
              </a:lnSpc>
              <a:buNone/>
            </a:pPr>
            <a:r>
              <a:rPr lang="en-US" sz="1900" b="1" spc="-58" kern="0" dirty="0">
                <a:solidFill>
                  <a:srgbClr val="FFFFFF"/>
                </a:solidFill>
                <a:latin typeface="Inter Bold" pitchFamily="34" charset="0"/>
                <a:ea typeface="Inter Bold" pitchFamily="34" charset="-122"/>
                <a:cs typeface="Inter Bold" pitchFamily="34" charset="-120"/>
              </a:rPr>
              <a:t>Proposed System Architecture</a:t>
            </a:r>
            <a:endParaRPr lang="en-US" sz="1900" dirty="0"/>
          </a:p>
        </p:txBody>
      </p:sp>
      <p:sp>
        <p:nvSpPr>
          <p:cNvPr id="5" name="Text 2"/>
          <p:cNvSpPr/>
          <p:nvPr/>
        </p:nvSpPr>
        <p:spPr>
          <a:xfrm>
            <a:off x="6732682" y="1266535"/>
            <a:ext cx="1988775" cy="611372"/>
          </a:xfrm>
          <a:prstGeom prst="rect">
            <a:avLst/>
          </a:prstGeom>
          <a:noFill/>
          <a:ln/>
        </p:spPr>
        <p:txBody>
          <a:bodyPr wrap="square" lIns="0" tIns="0" rIns="0" bIns="0" rtlCol="0" anchor="t">
            <a:normAutofit/>
          </a:bodyPr>
          <a:lstStyle/>
          <a:p>
            <a:pPr algn="ctr" indent="0" marL="0">
              <a:lnSpc>
                <a:spcPct val="104000"/>
              </a:lnSpc>
              <a:buNone/>
            </a:pPr>
            <a:r>
              <a:rPr lang="en-US" sz="1900" b="1" spc="-58" kern="0" dirty="0">
                <a:solidFill>
                  <a:srgbClr val="272525"/>
                </a:solidFill>
                <a:latin typeface="Inter Bold" pitchFamily="34" charset="0"/>
                <a:ea typeface="Inter Bold" pitchFamily="34" charset="-122"/>
                <a:cs typeface="Inter Bold" pitchFamily="34" charset="-120"/>
              </a:rPr>
              <a:t>Users &amp; Project Teams</a:t>
            </a:r>
            <a:endParaRPr lang="en-US" sz="1900" dirty="0"/>
          </a:p>
        </p:txBody>
      </p:sp>
      <p:sp>
        <p:nvSpPr>
          <p:cNvPr id="6" name="Text 3"/>
          <p:cNvSpPr/>
          <p:nvPr/>
        </p:nvSpPr>
        <p:spPr>
          <a:xfrm>
            <a:off x="6732682" y="1964858"/>
            <a:ext cx="1988775" cy="366823"/>
          </a:xfrm>
          <a:prstGeom prst="rect">
            <a:avLst/>
          </a:prstGeom>
          <a:noFill/>
          <a:ln/>
        </p:spPr>
        <p:txBody>
          <a:bodyPr wrap="square" lIns="0" tIns="0" rIns="0" bIns="0" rtlCol="0" anchor="t">
            <a:normAutofit/>
          </a:bodyPr>
          <a:lstStyle/>
          <a:p>
            <a:pPr algn="ctr" indent="0" marL="0">
              <a:lnSpc>
                <a:spcPct val="78000"/>
              </a:lnSpc>
              <a:buNone/>
            </a:pPr>
            <a:r>
              <a:rPr lang="en-US" sz="1500" spc="-25" kern="0" dirty="0">
                <a:solidFill>
                  <a:srgbClr val="272525"/>
                </a:solidFill>
                <a:latin typeface="Inter" pitchFamily="34" charset="0"/>
                <a:ea typeface="Inter" pitchFamily="34" charset="-122"/>
                <a:cs typeface="Inter" pitchFamily="34" charset="-120"/>
              </a:rPr>
              <a:t>Actors initiating requests</a:t>
            </a:r>
            <a:endParaRPr lang="en-US" sz="1500" dirty="0"/>
          </a:p>
        </p:txBody>
      </p:sp>
      <p:sp>
        <p:nvSpPr>
          <p:cNvPr id="7" name="Text 4"/>
          <p:cNvSpPr/>
          <p:nvPr/>
        </p:nvSpPr>
        <p:spPr>
          <a:xfrm>
            <a:off x="3417772" y="1266535"/>
            <a:ext cx="1988776" cy="611372"/>
          </a:xfrm>
          <a:prstGeom prst="rect">
            <a:avLst/>
          </a:prstGeom>
          <a:noFill/>
          <a:ln/>
        </p:spPr>
        <p:txBody>
          <a:bodyPr wrap="square" lIns="0" tIns="0" rIns="0" bIns="0" rtlCol="0" anchor="t">
            <a:normAutofit/>
          </a:bodyPr>
          <a:lstStyle/>
          <a:p>
            <a:pPr algn="ctr" indent="0" marL="0">
              <a:lnSpc>
                <a:spcPct val="104000"/>
              </a:lnSpc>
              <a:buNone/>
            </a:pPr>
            <a:r>
              <a:rPr lang="en-US" sz="1900" b="1" spc="-58" kern="0" dirty="0">
                <a:solidFill>
                  <a:srgbClr val="272525"/>
                </a:solidFill>
                <a:latin typeface="Inter Bold" pitchFamily="34" charset="0"/>
                <a:ea typeface="Inter Bold" pitchFamily="34" charset="-122"/>
                <a:cs typeface="Inter Bold" pitchFamily="34" charset="-120"/>
              </a:rPr>
              <a:t>CI/CD &amp; Containers</a:t>
            </a:r>
            <a:endParaRPr lang="en-US" sz="1900" dirty="0"/>
          </a:p>
        </p:txBody>
      </p:sp>
      <p:sp>
        <p:nvSpPr>
          <p:cNvPr id="8" name="Text 5"/>
          <p:cNvSpPr/>
          <p:nvPr/>
        </p:nvSpPr>
        <p:spPr>
          <a:xfrm>
            <a:off x="3417772" y="1964858"/>
            <a:ext cx="1988776" cy="366823"/>
          </a:xfrm>
          <a:prstGeom prst="rect">
            <a:avLst/>
          </a:prstGeom>
          <a:noFill/>
          <a:ln/>
        </p:spPr>
        <p:txBody>
          <a:bodyPr wrap="square" lIns="0" tIns="0" rIns="0" bIns="0" rtlCol="0" anchor="t">
            <a:normAutofit/>
          </a:bodyPr>
          <a:lstStyle/>
          <a:p>
            <a:pPr algn="ctr" indent="0" marL="0">
              <a:lnSpc>
                <a:spcPct val="78000"/>
              </a:lnSpc>
              <a:buNone/>
            </a:pPr>
            <a:r>
              <a:rPr lang="en-US" sz="1500" spc="-25" kern="0" dirty="0">
                <a:solidFill>
                  <a:srgbClr val="272525"/>
                </a:solidFill>
                <a:latin typeface="Inter" pitchFamily="34" charset="0"/>
                <a:ea typeface="Inter" pitchFamily="34" charset="-122"/>
                <a:cs typeface="Inter" pitchFamily="34" charset="-120"/>
              </a:rPr>
              <a:t>GitHub Actions + Docker</a:t>
            </a:r>
            <a:endParaRPr lang="en-US" sz="1500" dirty="0"/>
          </a:p>
        </p:txBody>
      </p:sp>
      <p:sp>
        <p:nvSpPr>
          <p:cNvPr id="9" name="Text 6"/>
          <p:cNvSpPr/>
          <p:nvPr/>
        </p:nvSpPr>
        <p:spPr>
          <a:xfrm>
            <a:off x="3417772" y="5146707"/>
            <a:ext cx="1988776" cy="611372"/>
          </a:xfrm>
          <a:prstGeom prst="rect">
            <a:avLst/>
          </a:prstGeom>
          <a:noFill/>
          <a:ln/>
        </p:spPr>
        <p:txBody>
          <a:bodyPr wrap="square" lIns="0" tIns="0" rIns="0" bIns="0" rtlCol="0" anchor="t">
            <a:normAutofit/>
          </a:bodyPr>
          <a:lstStyle/>
          <a:p>
            <a:pPr algn="ctr" indent="0" marL="0">
              <a:lnSpc>
                <a:spcPct val="104000"/>
              </a:lnSpc>
              <a:buNone/>
            </a:pPr>
            <a:r>
              <a:rPr lang="en-US" sz="1900" b="1" spc="-58" kern="0" dirty="0">
                <a:solidFill>
                  <a:srgbClr val="272525"/>
                </a:solidFill>
                <a:latin typeface="Inter Bold" pitchFamily="34" charset="0"/>
                <a:ea typeface="Inter Bold" pitchFamily="34" charset="-122"/>
                <a:cs typeface="Inter Bold" pitchFamily="34" charset="-120"/>
              </a:rPr>
              <a:t>PostgreSQL &amp; Redis</a:t>
            </a:r>
            <a:endParaRPr lang="en-US" sz="1900" dirty="0"/>
          </a:p>
        </p:txBody>
      </p:sp>
      <p:sp>
        <p:nvSpPr>
          <p:cNvPr id="10" name="Text 7"/>
          <p:cNvSpPr/>
          <p:nvPr/>
        </p:nvSpPr>
        <p:spPr>
          <a:xfrm>
            <a:off x="3417772" y="5845029"/>
            <a:ext cx="1988776" cy="366823"/>
          </a:xfrm>
          <a:prstGeom prst="rect">
            <a:avLst/>
          </a:prstGeom>
          <a:noFill/>
          <a:ln/>
        </p:spPr>
        <p:txBody>
          <a:bodyPr wrap="square" lIns="0" tIns="0" rIns="0" bIns="0" rtlCol="0" anchor="t">
            <a:normAutofit/>
          </a:bodyPr>
          <a:lstStyle/>
          <a:p>
            <a:pPr algn="ctr" indent="0" marL="0">
              <a:lnSpc>
                <a:spcPct val="78000"/>
              </a:lnSpc>
              <a:buNone/>
            </a:pPr>
            <a:r>
              <a:rPr lang="en-US" sz="1500" spc="-25" kern="0" dirty="0">
                <a:solidFill>
                  <a:srgbClr val="272525"/>
                </a:solidFill>
                <a:latin typeface="Inter" pitchFamily="34" charset="0"/>
                <a:ea typeface="Inter" pitchFamily="34" charset="-122"/>
                <a:cs typeface="Inter" pitchFamily="34" charset="-120"/>
              </a:rPr>
              <a:t>Persistent and cache storage</a:t>
            </a:r>
            <a:endParaRPr lang="en-US" sz="1500" dirty="0"/>
          </a:p>
        </p:txBody>
      </p:sp>
      <p:sp>
        <p:nvSpPr>
          <p:cNvPr id="11" name="Text 8"/>
          <p:cNvSpPr/>
          <p:nvPr/>
        </p:nvSpPr>
        <p:spPr>
          <a:xfrm>
            <a:off x="6732682" y="5299550"/>
            <a:ext cx="1988775" cy="305686"/>
          </a:xfrm>
          <a:prstGeom prst="rect">
            <a:avLst/>
          </a:prstGeom>
          <a:noFill/>
          <a:ln/>
        </p:spPr>
        <p:txBody>
          <a:bodyPr wrap="none" lIns="0" tIns="0" rIns="0" bIns="0" rtlCol="0" anchor="t"/>
          <a:lstStyle/>
          <a:p>
            <a:pPr algn="ctr" indent="0" marL="0">
              <a:lnSpc>
                <a:spcPct val="104000"/>
              </a:lnSpc>
              <a:buNone/>
            </a:pPr>
            <a:r>
              <a:rPr lang="en-US" sz="1900" b="1" spc="-58" kern="0" dirty="0">
                <a:solidFill>
                  <a:srgbClr val="272525"/>
                </a:solidFill>
                <a:latin typeface="Inter Bold" pitchFamily="34" charset="0"/>
                <a:ea typeface="Inter Bold" pitchFamily="34" charset="-122"/>
                <a:cs typeface="Inter Bold" pitchFamily="34" charset="-120"/>
              </a:rPr>
              <a:t>FastAPI Backend</a:t>
            </a:r>
            <a:endParaRPr lang="en-US" sz="1900" dirty="0"/>
          </a:p>
        </p:txBody>
      </p:sp>
      <p:sp>
        <p:nvSpPr>
          <p:cNvPr id="12" name="Text 9"/>
          <p:cNvSpPr/>
          <p:nvPr/>
        </p:nvSpPr>
        <p:spPr>
          <a:xfrm>
            <a:off x="6732682" y="5692186"/>
            <a:ext cx="1988775" cy="366823"/>
          </a:xfrm>
          <a:prstGeom prst="rect">
            <a:avLst/>
          </a:prstGeom>
          <a:noFill/>
          <a:ln/>
        </p:spPr>
        <p:txBody>
          <a:bodyPr wrap="square" lIns="0" tIns="0" rIns="0" bIns="0" rtlCol="0" anchor="t">
            <a:normAutofit/>
          </a:bodyPr>
          <a:lstStyle/>
          <a:p>
            <a:pPr algn="ctr" indent="0" marL="0">
              <a:lnSpc>
                <a:spcPct val="78000"/>
              </a:lnSpc>
              <a:buNone/>
            </a:pPr>
            <a:r>
              <a:rPr lang="en-US" sz="1500" spc="-25" kern="0" dirty="0">
                <a:solidFill>
                  <a:srgbClr val="272525"/>
                </a:solidFill>
                <a:latin typeface="Inter" pitchFamily="34" charset="0"/>
                <a:ea typeface="Inter" pitchFamily="34" charset="-122"/>
                <a:cs typeface="Inter" pitchFamily="34" charset="-120"/>
              </a:rPr>
              <a:t>API and business logic</a:t>
            </a:r>
            <a:endParaRPr lang="en-US" sz="1500" dirty="0"/>
          </a:p>
        </p:txBody>
      </p:sp>
      <p:sp>
        <p:nvSpPr>
          <p:cNvPr id="13" name="Text 10"/>
          <p:cNvSpPr/>
          <p:nvPr/>
        </p:nvSpPr>
        <p:spPr>
          <a:xfrm>
            <a:off x="7450007" y="3271155"/>
            <a:ext cx="2032250" cy="611372"/>
          </a:xfrm>
          <a:prstGeom prst="rect">
            <a:avLst/>
          </a:prstGeom>
          <a:noFill/>
          <a:ln/>
        </p:spPr>
        <p:txBody>
          <a:bodyPr wrap="square" lIns="0" tIns="0" rIns="0" bIns="0" rtlCol="0" anchor="t">
            <a:normAutofit/>
          </a:bodyPr>
          <a:lstStyle/>
          <a:p>
            <a:pPr algn="ctr" indent="0" marL="0">
              <a:lnSpc>
                <a:spcPct val="104000"/>
              </a:lnSpc>
              <a:buNone/>
            </a:pPr>
            <a:r>
              <a:rPr lang="en-US" sz="1900" b="1" spc="-58" kern="0" dirty="0">
                <a:solidFill>
                  <a:srgbClr val="272525"/>
                </a:solidFill>
                <a:latin typeface="Inter Bold" pitchFamily="34" charset="0"/>
                <a:ea typeface="Inter Bold" pitchFamily="34" charset="-122"/>
                <a:cs typeface="Inter Bold" pitchFamily="34" charset="-120"/>
              </a:rPr>
              <a:t>React + TypeScript</a:t>
            </a:r>
            <a:endParaRPr lang="en-US" sz="1900" dirty="0"/>
          </a:p>
        </p:txBody>
      </p:sp>
      <p:sp>
        <p:nvSpPr>
          <p:cNvPr id="14" name="Text 11"/>
          <p:cNvSpPr/>
          <p:nvPr/>
        </p:nvSpPr>
        <p:spPr>
          <a:xfrm>
            <a:off x="7450007" y="3969477"/>
            <a:ext cx="2032250" cy="183412"/>
          </a:xfrm>
          <a:prstGeom prst="rect">
            <a:avLst/>
          </a:prstGeom>
          <a:noFill/>
          <a:ln/>
        </p:spPr>
        <p:txBody>
          <a:bodyPr wrap="none" lIns="0" tIns="0" rIns="0" bIns="0" rtlCol="0" anchor="t"/>
          <a:lstStyle/>
          <a:p>
            <a:pPr algn="ctr" indent="0" marL="0">
              <a:lnSpc>
                <a:spcPct val="78000"/>
              </a:lnSpc>
              <a:buNone/>
            </a:pPr>
            <a:r>
              <a:rPr lang="en-US" sz="1500" spc="-25" kern="0" dirty="0">
                <a:solidFill>
                  <a:srgbClr val="272525"/>
                </a:solidFill>
                <a:latin typeface="Inter" pitchFamily="34" charset="0"/>
                <a:ea typeface="Inter" pitchFamily="34" charset="-122"/>
                <a:cs typeface="Inter" pitchFamily="34" charset="-120"/>
              </a:rPr>
              <a:t>Frontend UI layer</a:t>
            </a:r>
            <a:endParaRPr lang="en-US" sz="1500" dirty="0"/>
          </a:p>
        </p:txBody>
      </p:sp>
      <p:sp>
        <p:nvSpPr>
          <p:cNvPr id="15" name="Text 12"/>
          <p:cNvSpPr/>
          <p:nvPr/>
        </p:nvSpPr>
        <p:spPr>
          <a:xfrm>
            <a:off x="2689579" y="3190318"/>
            <a:ext cx="2032250" cy="611372"/>
          </a:xfrm>
          <a:prstGeom prst="rect">
            <a:avLst/>
          </a:prstGeom>
          <a:noFill/>
          <a:ln/>
        </p:spPr>
        <p:txBody>
          <a:bodyPr wrap="square" lIns="0" tIns="0" rIns="0" bIns="0" rtlCol="0" anchor="t">
            <a:normAutofit/>
          </a:bodyPr>
          <a:lstStyle/>
          <a:p>
            <a:pPr algn="ctr" indent="0" marL="0">
              <a:lnSpc>
                <a:spcPct val="104000"/>
              </a:lnSpc>
              <a:buNone/>
            </a:pPr>
            <a:r>
              <a:rPr lang="en-US" sz="1900" b="1" spc="-58" kern="0" dirty="0">
                <a:solidFill>
                  <a:srgbClr val="272525"/>
                </a:solidFill>
                <a:latin typeface="Inter Bold" pitchFamily="34" charset="0"/>
                <a:ea typeface="Inter Bold" pitchFamily="34" charset="-122"/>
                <a:cs typeface="Inter Bold" pitchFamily="34" charset="-120"/>
              </a:rPr>
              <a:t>AI Services (LLM APIs)</a:t>
            </a:r>
            <a:endParaRPr lang="en-US" sz="1900" dirty="0"/>
          </a:p>
        </p:txBody>
      </p:sp>
      <p:sp>
        <p:nvSpPr>
          <p:cNvPr id="16" name="Text 13"/>
          <p:cNvSpPr/>
          <p:nvPr/>
        </p:nvSpPr>
        <p:spPr>
          <a:xfrm>
            <a:off x="2689579" y="3888640"/>
            <a:ext cx="2032250" cy="366823"/>
          </a:xfrm>
          <a:prstGeom prst="rect">
            <a:avLst/>
          </a:prstGeom>
          <a:noFill/>
          <a:ln/>
        </p:spPr>
        <p:txBody>
          <a:bodyPr wrap="square" lIns="0" tIns="0" rIns="0" bIns="0" rtlCol="0" anchor="t">
            <a:normAutofit/>
          </a:bodyPr>
          <a:lstStyle/>
          <a:p>
            <a:pPr algn="ctr" indent="0" marL="0">
              <a:lnSpc>
                <a:spcPct val="78000"/>
              </a:lnSpc>
              <a:buNone/>
            </a:pPr>
            <a:r>
              <a:rPr lang="en-US" sz="1500" spc="-25" kern="0" dirty="0">
                <a:solidFill>
                  <a:srgbClr val="272525"/>
                </a:solidFill>
                <a:latin typeface="Inter" pitchFamily="34" charset="0"/>
                <a:ea typeface="Inter" pitchFamily="34" charset="-122"/>
                <a:cs typeface="Inter" pitchFamily="34" charset="-120"/>
              </a:rPr>
              <a:t>External model integrations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652389"/>
            <a:ext cx="10868745"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Technology Stack</a:t>
            </a:r>
            <a:endParaRPr lang="en-US" sz="2950" dirty="0"/>
          </a:p>
        </p:txBody>
      </p:sp>
      <p:sp>
        <p:nvSpPr>
          <p:cNvPr id="3" name="Text 1"/>
          <p:cNvSpPr/>
          <p:nvPr/>
        </p:nvSpPr>
        <p:spPr>
          <a:xfrm>
            <a:off x="661475" y="2578398"/>
            <a:ext cx="5203794" cy="2154634"/>
          </a:xfrm>
          <a:prstGeom prst="rect">
            <a:avLst/>
          </a:prstGeom>
          <a:noFill/>
          <a:ln/>
        </p:spPr>
        <p:txBody>
          <a:bodyPr wrap="square" lIns="0" tIns="0" rIns="0" bIns="0" rtlCol="0" anchor="t">
            <a:normAutofit/>
          </a:bodyPr>
          <a:lstStyle/>
          <a:p>
            <a:pPr algn="l" indent="0" marL="0">
              <a:lnSpc>
                <a:spcPct val="133000"/>
              </a:lnSpc>
              <a:buNone/>
            </a:pPr>
            <a:r>
              <a:rPr lang="en-US" sz="1450" b="1" spc="-30" kern="0" dirty="0">
                <a:solidFill>
                  <a:srgbClr val="272525"/>
                </a:solidFill>
                <a:latin typeface="Inter Bold" pitchFamily="34" charset="0"/>
                <a:ea typeface="Inter Bold" pitchFamily="34" charset="-122"/>
                <a:cs typeface="Inter Bold" pitchFamily="34" charset="-120"/>
              </a:rPr>
              <a:t>Frontend</a:t>
            </a:r>
            <a:endParaRPr lang="en-US" sz="1450" dirty="0"/>
          </a:p>
          <a:p>
            <a:pPr algn="l" indent="0" marL="0">
              <a:lnSpc>
                <a:spcPct val="133000"/>
              </a:lnSpc>
              <a:spcAft>
                <a:spcPts val="1300"/>
              </a:spcAft>
              <a:buNone/>
            </a:pPr>
            <a:r>
              <a:rPr lang="en-US" sz="1450" spc="-30" kern="0" dirty="0">
                <a:solidFill>
                  <a:srgbClr val="272525"/>
                </a:solidFill>
                <a:latin typeface="Inter" pitchFamily="34" charset="0"/>
                <a:ea typeface="Inter" pitchFamily="34" charset="-122"/>
                <a:cs typeface="Inter" pitchFamily="34" charset="-120"/>
              </a:rPr>
              <a:t>React • TypeScript • Node • Tailwind CSS</a:t>
            </a:r>
            <a:endParaRPr lang="en-US" sz="1450" dirty="0"/>
          </a:p>
          <a:p>
            <a:pPr algn="l" indent="0" marL="0">
              <a:lnSpc>
                <a:spcPct val="133000"/>
              </a:lnSpc>
              <a:buNone/>
            </a:pPr>
            <a:r>
              <a:rPr lang="en-US" sz="1450" b="1" spc="-30" kern="0" dirty="0">
                <a:solidFill>
                  <a:srgbClr val="272525"/>
                </a:solidFill>
                <a:latin typeface="Inter Bold" pitchFamily="34" charset="0"/>
                <a:ea typeface="Inter Bold" pitchFamily="34" charset="-122"/>
                <a:cs typeface="Inter Bold" pitchFamily="34" charset="-120"/>
              </a:rPr>
              <a:t>Backend</a:t>
            </a:r>
            <a:endParaRPr lang="en-US" sz="1450" dirty="0"/>
          </a:p>
          <a:p>
            <a:pPr algn="l" indent="0" marL="0">
              <a:lnSpc>
                <a:spcPct val="133000"/>
              </a:lnSpc>
              <a:spcAft>
                <a:spcPts val="1300"/>
              </a:spcAft>
              <a:buNone/>
            </a:pPr>
            <a:r>
              <a:rPr lang="en-US" sz="1450" spc="-30" kern="0" dirty="0">
                <a:solidFill>
                  <a:srgbClr val="272525"/>
                </a:solidFill>
                <a:latin typeface="Inter" pitchFamily="34" charset="0"/>
                <a:ea typeface="Inter" pitchFamily="34" charset="-122"/>
                <a:cs typeface="Inter" pitchFamily="34" charset="-120"/>
              </a:rPr>
              <a:t>Python • FastAPI</a:t>
            </a:r>
            <a:endParaRPr lang="en-US" sz="1450" dirty="0"/>
          </a:p>
          <a:p>
            <a:pPr algn="l" indent="0" marL="0">
              <a:lnSpc>
                <a:spcPct val="133000"/>
              </a:lnSpc>
              <a:buNone/>
            </a:pPr>
            <a:r>
              <a:rPr lang="en-US" sz="1450" b="1" spc="-30" kern="0" dirty="0">
                <a:solidFill>
                  <a:srgbClr val="272525"/>
                </a:solidFill>
                <a:latin typeface="Inter Bold" pitchFamily="34" charset="0"/>
                <a:ea typeface="Inter Bold" pitchFamily="34" charset="-122"/>
                <a:cs typeface="Inter Bold" pitchFamily="34" charset="-120"/>
              </a:rPr>
              <a:t>Database</a:t>
            </a:r>
            <a:endParaRPr lang="en-US" sz="1450" dirty="0"/>
          </a:p>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PostgreSQL </a:t>
            </a:r>
            <a:endParaRPr lang="en-US" sz="1450" dirty="0"/>
          </a:p>
        </p:txBody>
      </p:sp>
      <p:sp>
        <p:nvSpPr>
          <p:cNvPr id="4" name="Text 2"/>
          <p:cNvSpPr/>
          <p:nvPr/>
        </p:nvSpPr>
        <p:spPr>
          <a:xfrm>
            <a:off x="6332776" y="2578398"/>
            <a:ext cx="5203794" cy="2457053"/>
          </a:xfrm>
          <a:prstGeom prst="rect">
            <a:avLst/>
          </a:prstGeom>
          <a:noFill/>
          <a:ln/>
        </p:spPr>
        <p:txBody>
          <a:bodyPr wrap="square" lIns="0" tIns="0" rIns="0" bIns="0" rtlCol="0" anchor="t">
            <a:normAutofit/>
          </a:bodyPr>
          <a:lstStyle/>
          <a:p>
            <a:pPr algn="l" indent="0" marL="0">
              <a:lnSpc>
                <a:spcPct val="133000"/>
              </a:lnSpc>
              <a:buNone/>
            </a:pPr>
            <a:r>
              <a:rPr lang="en-US" sz="1450" b="1" spc="-30" kern="0" dirty="0">
                <a:solidFill>
                  <a:srgbClr val="272525"/>
                </a:solidFill>
                <a:latin typeface="Inter Bold" pitchFamily="34" charset="0"/>
                <a:ea typeface="Inter Bold" pitchFamily="34" charset="-122"/>
                <a:cs typeface="Inter Bold" pitchFamily="34" charset="-120"/>
              </a:rPr>
              <a:t>AI</a:t>
            </a:r>
            <a:endParaRPr lang="en-US" sz="1450" dirty="0"/>
          </a:p>
          <a:p>
            <a:pPr algn="l" indent="0" marL="0">
              <a:lnSpc>
                <a:spcPct val="133000"/>
              </a:lnSpc>
              <a:spcAft>
                <a:spcPts val="1300"/>
              </a:spcAft>
              <a:buNone/>
            </a:pPr>
            <a:r>
              <a:rPr lang="en-US" sz="1450" spc="-30" kern="0" dirty="0">
                <a:solidFill>
                  <a:srgbClr val="272525"/>
                </a:solidFill>
                <a:latin typeface="Inter" pitchFamily="34" charset="0"/>
                <a:ea typeface="Inter" pitchFamily="34" charset="-122"/>
                <a:cs typeface="Inter" pitchFamily="34" charset="-120"/>
              </a:rPr>
              <a:t>LLM APIs • RAG </a:t>
            </a:r>
            <a:endParaRPr lang="en-US" sz="1450" dirty="0"/>
          </a:p>
          <a:p>
            <a:pPr algn="l" indent="0" marL="0">
              <a:lnSpc>
                <a:spcPct val="133000"/>
              </a:lnSpc>
              <a:buNone/>
            </a:pPr>
            <a:r>
              <a:rPr lang="en-US" sz="1450" b="1" spc="-30" kern="0" dirty="0">
                <a:solidFill>
                  <a:srgbClr val="272525"/>
                </a:solidFill>
                <a:latin typeface="Inter Bold" pitchFamily="34" charset="0"/>
                <a:ea typeface="Inter Bold" pitchFamily="34" charset="-122"/>
                <a:cs typeface="Inter Bold" pitchFamily="34" charset="-120"/>
              </a:rPr>
              <a:t>DevOps</a:t>
            </a:r>
            <a:endParaRPr lang="en-US" sz="1450" dirty="0"/>
          </a:p>
          <a:p>
            <a:pPr algn="l" indent="0" marL="0">
              <a:lnSpc>
                <a:spcPct val="133000"/>
              </a:lnSpc>
              <a:spcAft>
                <a:spcPts val="1300"/>
              </a:spcAft>
              <a:buNone/>
            </a:pPr>
            <a:r>
              <a:rPr lang="en-US" sz="1450" spc="-30" kern="0" dirty="0">
                <a:solidFill>
                  <a:srgbClr val="272525"/>
                </a:solidFill>
                <a:latin typeface="Inter" pitchFamily="34" charset="0"/>
                <a:ea typeface="Inter" pitchFamily="34" charset="-122"/>
                <a:cs typeface="Inter" pitchFamily="34" charset="-120"/>
              </a:rPr>
              <a:t>Docker • GitHub Actions • Kubernetes</a:t>
            </a:r>
            <a:endParaRPr lang="en-US" sz="1450" dirty="0"/>
          </a:p>
          <a:p>
            <a:pPr algn="l" indent="0" marL="0">
              <a:lnSpc>
                <a:spcPct val="133000"/>
              </a:lnSpc>
              <a:buNone/>
            </a:pPr>
            <a:r>
              <a:rPr lang="en-US" sz="1450" b="1" spc="-30" kern="0" dirty="0">
                <a:solidFill>
                  <a:srgbClr val="272525"/>
                </a:solidFill>
                <a:latin typeface="Inter Bold" pitchFamily="34" charset="0"/>
                <a:ea typeface="Inter Bold" pitchFamily="34" charset="-122"/>
                <a:cs typeface="Inter Bold" pitchFamily="34" charset="-120"/>
              </a:rPr>
              <a:t>Security &amp; Monitoring</a:t>
            </a:r>
            <a:endParaRPr lang="en-US" sz="1450" dirty="0"/>
          </a:p>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SonarQube • Trivy • OWASP ZAP • Prometheus • Grafana • AWS • Terraform</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00199"/>
            <a:ext cx="6296860" cy="472480"/>
          </a:xfrm>
          <a:prstGeom prst="rect">
            <a:avLst/>
          </a:prstGeom>
          <a:noFill/>
          <a:ln/>
        </p:spPr>
        <p:txBody>
          <a:bodyPr wrap="none" lIns="0" tIns="0" rIns="0" bIns="0" rtlCol="0" anchor="t"/>
          <a:lstStyle/>
          <a:p>
            <a:pPr algn="l" indent="0" marL="0">
              <a:lnSpc>
                <a:spcPct val="104000"/>
              </a:lnSpc>
              <a:buNone/>
            </a:pPr>
            <a:r>
              <a:rPr lang="en-US" sz="2950" b="1" spc="-89" kern="0" dirty="0">
                <a:solidFill>
                  <a:srgbClr val="000000"/>
                </a:solidFill>
                <a:latin typeface="Inter Bold" pitchFamily="34" charset="0"/>
                <a:ea typeface="Inter Bold" pitchFamily="34" charset="-122"/>
                <a:cs typeface="Inter Bold" pitchFamily="34" charset="-120"/>
              </a:rPr>
              <a:t>Development Methodology</a:t>
            </a:r>
            <a:endParaRPr lang="en-US" sz="2950" dirty="0"/>
          </a:p>
        </p:txBody>
      </p:sp>
      <p:sp>
        <p:nvSpPr>
          <p:cNvPr id="4" name="Text 1"/>
          <p:cNvSpPr/>
          <p:nvPr/>
        </p:nvSpPr>
        <p:spPr>
          <a:xfrm>
            <a:off x="661475" y="1556147"/>
            <a:ext cx="6296860" cy="907256"/>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     Agile &amp; Iterative Development (proposed delivery approach). Cycle:     Planning → Development → Testing → Review → Adaptation → Next Sprint.   </a:t>
            </a:r>
            <a:endParaRPr lang="en-US" sz="1450" dirty="0"/>
          </a:p>
        </p:txBody>
      </p:sp>
      <p:sp>
        <p:nvSpPr>
          <p:cNvPr id="5" name="Text 2"/>
          <p:cNvSpPr/>
          <p:nvPr/>
        </p:nvSpPr>
        <p:spPr>
          <a:xfrm>
            <a:off x="661475" y="2676029"/>
            <a:ext cx="378014" cy="236240"/>
          </a:xfrm>
          <a:prstGeom prst="rect">
            <a:avLst/>
          </a:prstGeom>
          <a:noFill/>
          <a:ln/>
        </p:spPr>
        <p:txBody>
          <a:bodyPr wrap="none" lIns="0" tIns="0" rIns="0" bIns="0" rtlCol="0" anchor="ctr"/>
          <a:lstStyle/>
          <a:p>
            <a:pPr algn="l" indent="0" marL="0">
              <a:lnSpc>
                <a:spcPct val="100000"/>
              </a:lnSpc>
              <a:buNone/>
            </a:pPr>
            <a:r>
              <a:rPr lang="en-US" sz="1450" spc="-45" kern="0" dirty="0">
                <a:solidFill>
                  <a:srgbClr val="272525"/>
                </a:solidFill>
                <a:latin typeface="Inter Light" pitchFamily="34" charset="0"/>
                <a:ea typeface="Inter Light" pitchFamily="34" charset="-122"/>
                <a:cs typeface="Inter Light" pitchFamily="34" charset="-120"/>
              </a:rPr>
              <a:t>01</a:t>
            </a:r>
            <a:endParaRPr lang="en-US" sz="1450" dirty="0"/>
          </a:p>
        </p:txBody>
      </p:sp>
      <p:sp>
        <p:nvSpPr>
          <p:cNvPr id="6" name="Shape 3"/>
          <p:cNvSpPr/>
          <p:nvPr/>
        </p:nvSpPr>
        <p:spPr>
          <a:xfrm>
            <a:off x="661475" y="2971899"/>
            <a:ext cx="3053877" cy="25400"/>
          </a:xfrm>
          <a:prstGeom prst="rect">
            <a:avLst/>
          </a:prstGeom>
          <a:solidFill>
            <a:srgbClr val="4950BC"/>
          </a:solidFill>
          <a:ln/>
        </p:spPr>
      </p:sp>
      <p:sp>
        <p:nvSpPr>
          <p:cNvPr id="7" name="Text 4"/>
          <p:cNvSpPr/>
          <p:nvPr/>
        </p:nvSpPr>
        <p:spPr>
          <a:xfrm>
            <a:off x="661475" y="3117155"/>
            <a:ext cx="3053877"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272525"/>
                </a:solidFill>
                <a:latin typeface="Inter Bold" pitchFamily="34" charset="0"/>
                <a:ea typeface="Inter Bold" pitchFamily="34" charset="-122"/>
                <a:cs typeface="Inter Bold" pitchFamily="34" charset="-120"/>
              </a:rPr>
              <a:t>Practices</a:t>
            </a:r>
            <a:endParaRPr lang="en-US" sz="1850" dirty="0"/>
          </a:p>
        </p:txBody>
      </p:sp>
      <p:sp>
        <p:nvSpPr>
          <p:cNvPr id="8" name="Text 5"/>
          <p:cNvSpPr/>
          <p:nvPr/>
        </p:nvSpPr>
        <p:spPr>
          <a:xfrm>
            <a:off x="661475" y="3525838"/>
            <a:ext cx="3053877" cy="604838"/>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Agile/Scrum, user stories, product backlog, sprint planning.</a:t>
            </a:r>
            <a:endParaRPr lang="en-US" sz="1450" dirty="0"/>
          </a:p>
        </p:txBody>
      </p:sp>
      <p:sp>
        <p:nvSpPr>
          <p:cNvPr id="9" name="Text 6"/>
          <p:cNvSpPr/>
          <p:nvPr/>
        </p:nvSpPr>
        <p:spPr>
          <a:xfrm>
            <a:off x="3904359" y="2676029"/>
            <a:ext cx="378014" cy="236240"/>
          </a:xfrm>
          <a:prstGeom prst="rect">
            <a:avLst/>
          </a:prstGeom>
          <a:noFill/>
          <a:ln/>
        </p:spPr>
        <p:txBody>
          <a:bodyPr wrap="none" lIns="0" tIns="0" rIns="0" bIns="0" rtlCol="0" anchor="ctr"/>
          <a:lstStyle/>
          <a:p>
            <a:pPr algn="l" indent="0" marL="0">
              <a:lnSpc>
                <a:spcPct val="100000"/>
              </a:lnSpc>
              <a:buNone/>
            </a:pPr>
            <a:r>
              <a:rPr lang="en-US" sz="1450" spc="-45" kern="0" dirty="0">
                <a:solidFill>
                  <a:srgbClr val="272525"/>
                </a:solidFill>
                <a:latin typeface="Inter Light" pitchFamily="34" charset="0"/>
                <a:ea typeface="Inter Light" pitchFamily="34" charset="-122"/>
                <a:cs typeface="Inter Light" pitchFamily="34" charset="-120"/>
              </a:rPr>
              <a:t>02</a:t>
            </a:r>
            <a:endParaRPr lang="en-US" sz="1450" dirty="0"/>
          </a:p>
        </p:txBody>
      </p:sp>
      <p:sp>
        <p:nvSpPr>
          <p:cNvPr id="10" name="Shape 7"/>
          <p:cNvSpPr/>
          <p:nvPr/>
        </p:nvSpPr>
        <p:spPr>
          <a:xfrm>
            <a:off x="3904359" y="2971899"/>
            <a:ext cx="3053976" cy="25400"/>
          </a:xfrm>
          <a:prstGeom prst="rect">
            <a:avLst/>
          </a:prstGeom>
          <a:solidFill>
            <a:srgbClr val="4950BC"/>
          </a:solidFill>
          <a:ln/>
        </p:spPr>
      </p:sp>
      <p:sp>
        <p:nvSpPr>
          <p:cNvPr id="11" name="Text 8"/>
          <p:cNvSpPr/>
          <p:nvPr/>
        </p:nvSpPr>
        <p:spPr>
          <a:xfrm>
            <a:off x="3904359" y="3117155"/>
            <a:ext cx="3053976"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272525"/>
                </a:solidFill>
                <a:latin typeface="Inter Bold" pitchFamily="34" charset="0"/>
                <a:ea typeface="Inter Bold" pitchFamily="34" charset="-122"/>
                <a:cs typeface="Inter Bold" pitchFamily="34" charset="-120"/>
              </a:rPr>
              <a:t>Quality</a:t>
            </a:r>
            <a:endParaRPr lang="en-US" sz="1850" dirty="0"/>
          </a:p>
        </p:txBody>
      </p:sp>
      <p:sp>
        <p:nvSpPr>
          <p:cNvPr id="12" name="Text 9"/>
          <p:cNvSpPr/>
          <p:nvPr/>
        </p:nvSpPr>
        <p:spPr>
          <a:xfrm>
            <a:off x="3904359" y="3525838"/>
            <a:ext cx="3053976" cy="604838"/>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Continuous testing, CI, and automated checks in each sprint.</a:t>
            </a:r>
            <a:endParaRPr lang="en-US" sz="1450" dirty="0"/>
          </a:p>
        </p:txBody>
      </p:sp>
      <p:sp>
        <p:nvSpPr>
          <p:cNvPr id="13" name="Text 10"/>
          <p:cNvSpPr/>
          <p:nvPr/>
        </p:nvSpPr>
        <p:spPr>
          <a:xfrm>
            <a:off x="661475" y="4461371"/>
            <a:ext cx="378014" cy="236240"/>
          </a:xfrm>
          <a:prstGeom prst="rect">
            <a:avLst/>
          </a:prstGeom>
          <a:noFill/>
          <a:ln/>
        </p:spPr>
        <p:txBody>
          <a:bodyPr wrap="none" lIns="0" tIns="0" rIns="0" bIns="0" rtlCol="0" anchor="ctr"/>
          <a:lstStyle/>
          <a:p>
            <a:pPr algn="l" indent="0" marL="0">
              <a:lnSpc>
                <a:spcPct val="100000"/>
              </a:lnSpc>
              <a:buNone/>
            </a:pPr>
            <a:r>
              <a:rPr lang="en-US" sz="1450" spc="-45" kern="0" dirty="0">
                <a:solidFill>
                  <a:srgbClr val="272525"/>
                </a:solidFill>
                <a:latin typeface="Inter Light" pitchFamily="34" charset="0"/>
                <a:ea typeface="Inter Light" pitchFamily="34" charset="-122"/>
                <a:cs typeface="Inter Light" pitchFamily="34" charset="-120"/>
              </a:rPr>
              <a:t>03</a:t>
            </a:r>
            <a:endParaRPr lang="en-US" sz="1450" dirty="0"/>
          </a:p>
        </p:txBody>
      </p:sp>
      <p:sp>
        <p:nvSpPr>
          <p:cNvPr id="14" name="Shape 11"/>
          <p:cNvSpPr/>
          <p:nvPr/>
        </p:nvSpPr>
        <p:spPr>
          <a:xfrm>
            <a:off x="661475" y="4757241"/>
            <a:ext cx="6296860" cy="25400"/>
          </a:xfrm>
          <a:prstGeom prst="rect">
            <a:avLst/>
          </a:prstGeom>
          <a:solidFill>
            <a:srgbClr val="4950BC"/>
          </a:solidFill>
          <a:ln/>
        </p:spPr>
      </p:sp>
      <p:sp>
        <p:nvSpPr>
          <p:cNvPr id="15" name="Text 12"/>
          <p:cNvSpPr/>
          <p:nvPr/>
        </p:nvSpPr>
        <p:spPr>
          <a:xfrm>
            <a:off x="661475" y="4902498"/>
            <a:ext cx="6296860" cy="295275"/>
          </a:xfrm>
          <a:prstGeom prst="rect">
            <a:avLst/>
          </a:prstGeom>
          <a:noFill/>
          <a:ln/>
        </p:spPr>
        <p:txBody>
          <a:bodyPr wrap="none" lIns="0" tIns="0" rIns="0" bIns="0" rtlCol="0" anchor="t"/>
          <a:lstStyle/>
          <a:p>
            <a:pPr algn="l" indent="0" marL="0">
              <a:lnSpc>
                <a:spcPct val="104000"/>
              </a:lnSpc>
              <a:buNone/>
            </a:pPr>
            <a:r>
              <a:rPr lang="en-US" sz="1850" b="1" spc="-56" kern="0" dirty="0">
                <a:solidFill>
                  <a:srgbClr val="272525"/>
                </a:solidFill>
                <a:latin typeface="Inter Bold" pitchFamily="34" charset="0"/>
                <a:ea typeface="Inter Bold" pitchFamily="34" charset="-122"/>
                <a:cs typeface="Inter Bold" pitchFamily="34" charset="-120"/>
              </a:rPr>
              <a:t>Feedback</a:t>
            </a:r>
            <a:endParaRPr lang="en-US" sz="1850" dirty="0"/>
          </a:p>
        </p:txBody>
      </p:sp>
      <p:sp>
        <p:nvSpPr>
          <p:cNvPr id="16" name="Text 13"/>
          <p:cNvSpPr/>
          <p:nvPr/>
        </p:nvSpPr>
        <p:spPr>
          <a:xfrm>
            <a:off x="661475" y="5311180"/>
            <a:ext cx="6296860" cy="604838"/>
          </a:xfrm>
          <a:prstGeom prst="rect">
            <a:avLst/>
          </a:prstGeom>
          <a:noFill/>
          <a:ln/>
        </p:spPr>
        <p:txBody>
          <a:bodyPr wrap="square" lIns="0" tIns="0" rIns="0" bIns="0" rtlCol="0" anchor="t">
            <a:normAutofit/>
          </a:bodyPr>
          <a:lstStyle/>
          <a:p>
            <a:pPr algn="l" indent="0" marL="0">
              <a:lnSpc>
                <a:spcPct val="133000"/>
              </a:lnSpc>
              <a:buNone/>
            </a:pPr>
            <a:r>
              <a:rPr lang="en-US" sz="1450" spc="-30" kern="0" dirty="0">
                <a:solidFill>
                  <a:srgbClr val="272525"/>
                </a:solidFill>
                <a:latin typeface="Inter" pitchFamily="34" charset="0"/>
                <a:ea typeface="Inter" pitchFamily="34" charset="-122"/>
                <a:cs typeface="Inter" pitchFamily="34" charset="-120"/>
              </a:rPr>
              <a:t>Review and adaptation each sprint; iterate on AI prompts and integrations.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2026-09-26T03:42:37Z</dcterms:created>
  <dcterms:modified xsi:type="dcterms:W3CDTF">2026-09-26T03:42:37Z</dcterms:modified>
</cp:coreProperties>
</file>